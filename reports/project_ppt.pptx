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0700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Mutual Fund Analytics &amp; Performance Evaluation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48570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 Data Analytics Solution using Python, SQLite &amp; Power BI</a:t>
            </a:r>
            <a:endParaRPr lang="en-US" sz="1100" dirty="0"/>
          </a:p>
          <a:p>
            <a:pPr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Presented by:</a:t>
            </a:r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Soufik Aktar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435971" y="3621137"/>
            <a:ext cx="607070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4521026" y="3663628"/>
            <a:ext cx="8941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113883" y="3621137"/>
            <a:ext cx="592782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8" name="Text 5"/>
          <p:cNvSpPr/>
          <p:nvPr/>
        </p:nvSpPr>
        <p:spPr>
          <a:xfrm>
            <a:off x="5198938" y="3663628"/>
            <a:ext cx="8798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77508" y="3621137"/>
            <a:ext cx="548134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10" name="Text 7"/>
          <p:cNvSpPr/>
          <p:nvPr/>
        </p:nvSpPr>
        <p:spPr>
          <a:xfrm>
            <a:off x="5862563" y="3663628"/>
            <a:ext cx="8352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NUMPY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396484" y="3621137"/>
            <a:ext cx="537493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12" name="Text 9"/>
          <p:cNvSpPr/>
          <p:nvPr/>
        </p:nvSpPr>
        <p:spPr>
          <a:xfrm>
            <a:off x="6481539" y="3663628"/>
            <a:ext cx="824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004819" y="3621137"/>
            <a:ext cx="686842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14" name="Text 11"/>
          <p:cNvSpPr/>
          <p:nvPr/>
        </p:nvSpPr>
        <p:spPr>
          <a:xfrm>
            <a:off x="7089874" y="3663628"/>
            <a:ext cx="9739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762503" y="3621137"/>
            <a:ext cx="885379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16" name="Text 13"/>
          <p:cNvSpPr/>
          <p:nvPr/>
        </p:nvSpPr>
        <p:spPr>
          <a:xfrm>
            <a:off x="7847558" y="3663628"/>
            <a:ext cx="117246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 &amp; GITHUB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924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860896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236166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Mutual fund investors and analysts lack a unified system to evaluate fund performance, assess risk, and derive actionable insights from raw NAV and transaction data.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802606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177876"/>
            <a:ext cx="8151763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 end-to-end ETL pipeline for mutual fund datasets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risk-adjusted performance metrics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an interactive Power BI dashboard for business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3021657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3396928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India's mutual fund industry exceeds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₹50 trillion AUM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Data-driven analytics empowers investors, AMCs, and advisors to make smarter decisions.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3963367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4338638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Transforms raw CSV datasets into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actionable business insights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through ETL, financial analytics, and interactive dashboards — enabling fund comparison, risk profiling, and investor segmentation.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structured, nine-stage pipeline transforms raw mutual fund data into business-ready insights.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07021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96163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stage builds on the previous — ensuring data quality, analytical rigor, and clear business value at every step of the pipeline.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700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 &amp; Dataset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14102"/>
            <a:ext cx="50436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73510"/>
            <a:ext cx="152772" cy="152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114" y="1177975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22114" y="1410444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language for data processing and analytics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14723"/>
            <a:ext cx="152772" cy="1527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114" y="1719188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Pandas &amp; NumPy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22114" y="1951658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manipulation, aggregation, and numerical computation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255937"/>
            <a:ext cx="152772" cy="1527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114" y="2260402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22114" y="2492871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Lightweight relational database for structured storage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97150"/>
            <a:ext cx="152772" cy="1527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2114" y="2801615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22114" y="3034085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development and documentation environment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38364"/>
            <a:ext cx="152772" cy="1527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2114" y="3342829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722114" y="3575298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dashboards and business intelligence reporting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879577"/>
            <a:ext cx="152772" cy="1527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2114" y="3884042"/>
            <a:ext cx="4817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&amp; GitHub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722114" y="4116512"/>
            <a:ext cx="481764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control and collaborative code management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5793060" y="914102"/>
            <a:ext cx="285950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793060" y="1155725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899696" y="1262360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 Master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793060" y="1601465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899696" y="1708100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NAV History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793060" y="2047205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899696" y="2153841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AUM Data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793060" y="2492946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899696" y="2599581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SIP Inflows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793060" y="2938686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899696" y="3045321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Inflows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793060" y="3384426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899696" y="3491061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Investor Transactions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793060" y="3830166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899696" y="3936802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Holdings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793060" y="4275906"/>
            <a:ext cx="2859509" cy="372517"/>
          </a:xfrm>
          <a:prstGeom prst="roundRect">
            <a:avLst>
              <a:gd name="adj" fmla="val 114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899696" y="4382542"/>
            <a:ext cx="26462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 Indices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&amp; Advanced Analytics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8514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We Measure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731294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computes a comprehensive suite of financial metrics across three analytical layers:</a:t>
            </a:r>
            <a:endParaRPr lang="en-US" sz="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773290"/>
            <a:ext cx="2693640" cy="462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Metrics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14586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CAGR, Sharpe Ratio, Sortino Ratio, Alpha, Beta, Maximum Drawdown, Tracking Error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180" y="4773290"/>
            <a:ext cx="2693640" cy="462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3647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Analytics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43647" y="4985593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at Risk (VaR), Conditional VaR (CVaR), Rolling Sharpe Ratio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241" y="4773290"/>
            <a:ext cx="2693640" cy="4627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708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Advanced Insights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72708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 Cohort Analysis, SIP Continuity, HHI Portfolio Concentration, Rule-Based Fund Recommendation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7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424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interactive dashboard enables users to analyse industry performance, evaluate mutual funds, explore investor behaviour, and monitor market trends through dynamic visualisations and slicers.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07344"/>
            <a:ext cx="110490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6734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Mutual Fund Industry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95315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AUM distribution, AMC rankings, and category-wise market share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07344"/>
            <a:ext cx="110490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06734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 Performance Analysis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595315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metrics, risk ratios, and benchmark comparisons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07344"/>
            <a:ext cx="110490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Investor Analytics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37385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transaction patterns, and cohort behaviour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07344"/>
            <a:ext cx="110490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SIP &amp; Market Trends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37385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SIP inflow trajectories, continuity rates, and market sentiment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79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000199"/>
            <a:ext cx="186035" cy="186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145" y="996404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Industry AUM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is concentrated among leading AMCs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99145" y="1255365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 number of AMCs dominate total assets under management, highlighting market consolidation.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1662261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145" y="1658466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SIP inflows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demonstrate consistent long-term growth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99145" y="1917427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 investment plans show steady upward trends, reflecting growing retail participation.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2324323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9145" y="2320528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Risk-adjusted metrics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outperform raw returns for fund comparison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99145" y="2579489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Sharpe and Sortino ratios reveal true fund quality beyond headline returns.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627" y="2986385"/>
            <a:ext cx="186035" cy="186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145" y="2982590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Investor demographics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reveal diverse investment behaviour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99145" y="3241551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income, and geography significantly influence fund selection and SIP adoption.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627" y="3648447"/>
            <a:ext cx="186035" cy="1860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9145" y="3644652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concentration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analysis highlights diversification opportunities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99145" y="3903613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HHI metrics uncover over-concentration risks and guide rebalancing decisions.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627" y="4310509"/>
            <a:ext cx="186035" cy="18603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99145" y="4306714"/>
            <a:ext cx="7748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dashboards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improve financial decision-making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899145" y="4565675"/>
            <a:ext cx="77487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visualizations and slicers enable faster, data-backed investment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086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Scope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71178"/>
            <a:ext cx="8151763" cy="569119"/>
          </a:xfrm>
          <a:prstGeom prst="roundRect">
            <a:avLst>
              <a:gd name="adj" fmla="val 8501"/>
            </a:avLst>
          </a:prstGeom>
          <a:solidFill>
            <a:srgbClr val="F7ED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1128564"/>
            <a:ext cx="143917" cy="115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0272" y="1093440"/>
            <a:ext cx="766249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successfully integrates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engineering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financial analytics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business intelligence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into a unified decision-support system for mutual fund analysis.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680642"/>
            <a:ext cx="8151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2000920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182267"/>
            <a:ext cx="2654871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6"/>
          <p:cNvSpPr/>
          <p:nvPr/>
        </p:nvSpPr>
        <p:spPr>
          <a:xfrm>
            <a:off x="496119" y="2268364"/>
            <a:ext cx="265487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NAV Integration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2504405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data feeds via APIs for up-to-the-minute fund tracking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44528" y="2000920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4528" y="2182267"/>
            <a:ext cx="2654871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0"/>
          <p:cNvSpPr/>
          <p:nvPr/>
        </p:nvSpPr>
        <p:spPr>
          <a:xfrm>
            <a:off x="3244528" y="2268364"/>
            <a:ext cx="265487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Streamlit Web Application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4528" y="2504405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an interactive, browser-based analytics interface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92937" y="2000920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92937" y="2182267"/>
            <a:ext cx="2654871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4"/>
          <p:cNvSpPr/>
          <p:nvPr/>
        </p:nvSpPr>
        <p:spPr>
          <a:xfrm>
            <a:off x="5992937" y="2268364"/>
            <a:ext cx="265487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ML-Based Fund Prediction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92937" y="2504405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models to forecast fund performance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6119" y="301823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96119" y="3199581"/>
            <a:ext cx="402907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8"/>
          <p:cNvSpPr/>
          <p:nvPr/>
        </p:nvSpPr>
        <p:spPr>
          <a:xfrm>
            <a:off x="496119" y="3285679"/>
            <a:ext cx="402907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Optimisation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6119" y="3521720"/>
            <a:ext cx="402907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Markowitz Efficient Frontier for optimal asset allocation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18732" y="301823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8732" y="3199581"/>
            <a:ext cx="402907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5" name="Text 22"/>
          <p:cNvSpPr/>
          <p:nvPr/>
        </p:nvSpPr>
        <p:spPr>
          <a:xfrm>
            <a:off x="4618732" y="3285679"/>
            <a:ext cx="402907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Reporting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18732" y="3521720"/>
            <a:ext cx="402907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Scheduled, auto-generated performance reports for stakeholders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6119" y="3915370"/>
            <a:ext cx="8151763" cy="49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28" name="Text 25"/>
          <p:cNvSpPr/>
          <p:nvPr/>
        </p:nvSpPr>
        <p:spPr>
          <a:xfrm>
            <a:off x="496119" y="4552429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2026-07-10T10:54:30Z</dcterms:created>
  <dcterms:modified xsi:type="dcterms:W3CDTF">2026-07-10T10:54:30Z</dcterms:modified>
</cp:coreProperties>
</file>